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197F40-7B9D-407B-90C4-8211A5EC9DC3}">
  <a:tblStyle styleId="{06197F40-7B9D-407B-90C4-8211A5EC9D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-130950"/>
            <a:ext cx="9144000" cy="51435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A36"/>
          </a:solidFill>
          <a:ln cap="flat" cmpd="sng" w="12700">
            <a:solidFill>
              <a:srgbClr val="0D1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217920" y="548640"/>
            <a:ext cx="2377440" cy="2377440"/>
          </a:xfrm>
          <a:prstGeom prst="ellipse">
            <a:avLst/>
          </a:prstGeom>
          <a:solidFill>
            <a:srgbClr val="1A5FC8">
              <a:alpha val="20000"/>
            </a:srgbClr>
          </a:solidFill>
          <a:ln cap="flat" cmpd="sng" w="12700">
            <a:solidFill>
              <a:srgbClr val="1A5FC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92240" y="822960"/>
            <a:ext cx="1828800" cy="1828800"/>
          </a:xfrm>
          <a:prstGeom prst="ellipse">
            <a:avLst/>
          </a:prstGeom>
          <a:solidFill>
            <a:srgbClr val="1A5FC8">
              <a:alpha val="40000"/>
            </a:srgbClr>
          </a:solidFill>
          <a:ln cap="flat" cmpd="sng" w="12700">
            <a:solidFill>
              <a:srgbClr val="1A5FC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766560" y="100584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EDU-CORE | SRMS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86868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Result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 Pattern Implementation in a Web-based MIS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457200" y="288036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457200" y="301752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👤 Student: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103120" y="301752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Muneeb Ul Haq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237001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3236982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👨‍🏫 Advisor: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103120" y="3237070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Asst. Prof. Engr. Abdul Rahman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367588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57200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Problem Def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700784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700784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Tech Depth (10)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944368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944368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UML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187952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187952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Testing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31536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431536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Performance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5120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675120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SRS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918704" y="4663440"/>
            <a:ext cx="1170432" cy="29260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918704" y="466344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Patterns 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57200" y="292608"/>
            <a:ext cx="32004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7200" y="2926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DEFINITION  |  5 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4572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&amp; Challenge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74320" y="1051560"/>
            <a:ext cx="28803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74320" y="1051560"/>
            <a:ext cx="2880360" cy="3657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84048" y="11612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📋 Current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84048" y="1453896"/>
            <a:ext cx="269748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Academic institutions rely on manual or fragmented record-keeping. Student marks are stored in spreadsheets with no centralized access, real-time ranking, or GPA computation.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55264" y="1051560"/>
            <a:ext cx="28803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255264" y="1051560"/>
            <a:ext cx="288036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364992" y="11612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⚠️ Core Problems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364992" y="1453896"/>
            <a:ext cx="269748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No unified student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Manual grade computation errors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No role-based access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Zero performance analytics or rankings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36208" y="1051560"/>
            <a:ext cx="28803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236208" y="1051560"/>
            <a:ext cx="288036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345936" y="11612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🎯 Our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345936" y="1453896"/>
            <a:ext cx="269748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SRMS: A web-based MIS applying Design Patterns (Singleton, Factory, Observer, Strategy, MVC) to deliver automated, real-time academic result management.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Domain: Management Information System | Web Application | 15+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OVERVIEW  |  15+ DOMAIN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45724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Features &amp; SE Domain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5"/>
          <p:cNvGraphicFramePr/>
          <p:nvPr/>
        </p:nvGraphicFramePr>
        <p:xfrm>
          <a:off x="2286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{06197F40-7B9D-407B-90C4-8211A5EC9DC3}</a:tableStyleId>
              </a:tblPr>
              <a:tblGrid>
                <a:gridCol w="411475"/>
                <a:gridCol w="1920250"/>
                <a:gridCol w="2194550"/>
                <a:gridCol w="411475"/>
                <a:gridCol w="1920250"/>
                <a:gridCol w="21945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Login / Role-Based Access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Admin &amp; Student login with auth checks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Result Edit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Update marks for existing records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Student Management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Add, view, search, delete students (CRUD)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Delete with Cascade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Remove student → auto-removes results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Course Management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Add, view, delete course records (CRUD)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Dashboard Analytics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Stats: students, courses, results, avg GPA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Result Entry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Enter marks per student per course/semester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Recent Performance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Live feed of latest results on dashboard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Grade Computation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Auto: A+/A/B/C/D/F via Strategy Pattern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Real-time Search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Filter students/results as you type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F06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GPA Calculation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4.0 scale CGPA computed per student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Toast Notifications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Success/error feedback on every action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Academic Rankings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Leaderboard sorted by GPA, filterable by dept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F16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Grade Preview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Shows grade before saving a result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Individual Transcript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Full course-wise transcript + CGPA summary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F17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Observer Auto-Refresh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Pages update automatically on data change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F09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CSV Export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Download transcript as CSV file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7200" y="274320"/>
            <a:ext cx="50292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57200" y="2743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PATTERN IMPLEMENTATION  |  10 MARKS TECH DEPTH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45720"/>
            <a:ext cx="82296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Patterns Applied in SRMS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28600" y="1005840"/>
            <a:ext cx="2816352" cy="182880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228600" y="1005840"/>
            <a:ext cx="36576" cy="18288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38328" y="109728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SINGLETON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38328" y="1389888"/>
            <a:ext cx="2633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📍 Store object — script.js lines 1–30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Ensures ONE central DataStore instance. All reads/writes go through Store.getInstance(). Prevents data duplication and race conditions.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✅ Single source of truth; easy to swap persistence layer (memory → localStorage → API) without changing any render code.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127248" y="1005840"/>
            <a:ext cx="2816352" cy="182880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127248" y="1005840"/>
            <a:ext cx="36576" cy="18288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236976" y="109728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236976" y="1389888"/>
            <a:ext cx="2633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📍 GradingStrategy — script.js lines 32–42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GradingStrategy.standard() is a pluggable function. activeStrategy variable can be swapped at runtime (e.g., lenient grading for resit).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✅ Adding a new grading scheme = one new function, zero changes to result-entry or render code.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016752" y="1005840"/>
            <a:ext cx="2816352" cy="182880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016752" y="1005840"/>
            <a:ext cx="36576" cy="182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126480" y="109728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🏭 FACTORY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126480" y="1389888"/>
            <a:ext cx="2633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📍 RecordFactory — script.js lines 44–49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RecordFactory.student/course/result() create validated objects. All CRUD functions call Factory, never construct raw objects.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✅ Centralised object creation; adding a field (e.g., 'email') requires only one Factory update.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28600" y="2926080"/>
            <a:ext cx="2816352" cy="182880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28600" y="2926080"/>
            <a:ext cx="36576" cy="18288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38328" y="301752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👁️ OBSERVER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38328" y="3310128"/>
            <a:ext cx="2633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📍 EventBus — script.js lines 51–59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EventBus.emit('dataChanged') triggers all subscribed render functions automatically. No manual re-render calls needed.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✅ Loose coupling — adding a new UI widget just means EventBus.on('dataChanged', renderNew). Zero changes to CRUD logic.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127248" y="2926080"/>
            <a:ext cx="2816352" cy="182880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127248" y="2926080"/>
            <a:ext cx="36576" cy="1828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236976" y="301752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 MVC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236976" y="3310128"/>
            <a:ext cx="2633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📍 Entire app architecture — script.js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Model=Store, View=render*() functions, Controller=CRUD functions (doAdd*, doEdit*, doDelete*). Clear separation enforced.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✅ Each layer testable independently. Swap render engine (React/Vue) without touching business logic.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126480" y="3017520"/>
            <a:ext cx="2633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870448" y="2926105"/>
            <a:ext cx="36600" cy="1828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292608"/>
            <a:ext cx="22860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57200" y="2926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UML  |  5 MARKS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74325" y="36676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&amp; UML Diagrams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74320" y="1051560"/>
            <a:ext cx="3840480" cy="1005840"/>
          </a:xfrm>
          <a:prstGeom prst="rect">
            <a:avLst/>
          </a:prstGeom>
          <a:solidFill>
            <a:srgbClr val="1A5FC8">
              <a:alpha val="12156"/>
            </a:srgbClr>
          </a:solidFill>
          <a:ln cap="flat" cmpd="sng" w="1905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99574" y="1112806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VIEW LAYER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11480" y="143560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render*() functions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HTML + CSS UI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011680" y="20391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74320" y="2240280"/>
            <a:ext cx="3840480" cy="1005840"/>
          </a:xfrm>
          <a:prstGeom prst="rect">
            <a:avLst/>
          </a:prstGeom>
          <a:solidFill>
            <a:srgbClr val="10B981">
              <a:alpha val="12156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11480" y="23134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CONTROLLER LAYER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11480" y="262432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doAdd / doEdit / doDelete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EventBus.emit()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011680" y="32278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74320" y="3429000"/>
            <a:ext cx="3840480" cy="1005840"/>
          </a:xfrm>
          <a:prstGeom prst="rect">
            <a:avLst/>
          </a:prstGeom>
          <a:solidFill>
            <a:srgbClr val="F59E0B">
              <a:alpha val="12156"/>
            </a:srgbClr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11480" y="3502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LAYER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11480" y="38130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Store.getInstance()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RecordFactory · GradingStrategy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0" y="1051560"/>
            <a:ext cx="4298400" cy="292608"/>
          </a:xfrm>
          <a:prstGeom prst="rect">
            <a:avLst/>
          </a:prstGeom>
          <a:solidFill>
            <a:srgbClr val="1A5FC8">
              <a:alpha val="14901"/>
            </a:srgbClr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UML Diagrams — Use Case  |  Class  |  Activity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0" y="138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C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C8"/>
                </a:solidFill>
                <a:latin typeface="Calibri"/>
                <a:ea typeface="Calibri"/>
                <a:cs typeface="Calibri"/>
                <a:sym typeface="Calibri"/>
              </a:rPr>
              <a:t>📋 Use Case Diagram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400800" y="138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📄 Class Diagram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315200" y="3127254"/>
            <a:ext cx="13716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 Activity Diagram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101" y="1554474"/>
            <a:ext cx="2097033" cy="1572774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4800" y="1554474"/>
            <a:ext cx="2621293" cy="1572774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246125"/>
            <a:ext cx="4626275" cy="1897375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57200" y="292608"/>
            <a:ext cx="475488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57200" y="29260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MAINTAINABILITY &amp; SCALABILITY  |  DESIGN PATTERNS BENEFIT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572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Patterns Improve the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8"/>
          <p:cNvGraphicFramePr/>
          <p:nvPr/>
        </p:nvGraphicFramePr>
        <p:xfrm>
          <a:off x="2286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{06197F40-7B9D-407B-90C4-8211A5EC9DC3}</a:tableStyleId>
              </a:tblPr>
              <a:tblGrid>
                <a:gridCol w="1463050"/>
                <a:gridCol w="2331725"/>
                <a:gridCol w="2331725"/>
                <a:gridCol w="23317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Concern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BEFORE (No Patterns)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AFTER (With Patterns)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Benefit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Data Access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Direct object mutation everywhere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Store.getInstance() only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Single source of truth (Singleton)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Grading Logic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if-else blocks in 4 places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activeStrategy(marks)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Swap grading in 1 line (Strategy)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Object Creation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Raw {id,name,...} objects inline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RecordFactory.student()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Type-safe, field-validated (Factory)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UI Refresh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Manual render calls after every CRUD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EventBus auto-triggers render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Zero coupling (Observer)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Code Structure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500-line monolith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Model / View / Controller split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Testable layers (MVC)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E293B"/>
                          </a:solidFill>
                        </a:rPr>
                        <a:t>Adding Feature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991B1B"/>
                          </a:solidFill>
                        </a:rPr>
                        <a:t>Edit 5+ functions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65F46"/>
                          </a:solidFill>
                        </a:rPr>
                        <a:t>Add 1 factory + 1 render fn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Open/Closed Principle met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57200" y="274320"/>
            <a:ext cx="45720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7200" y="2743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REFACTORING DEMO  |  BEFORE vs AFTER DESIGN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4572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Refactoring: Poorly Designed → Pattern-Based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320040" y="100584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❌  BEFORE — Monolithic (No Patterns)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20040" y="1325880"/>
            <a:ext cx="397764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function addStudentBAD(id, name, marks)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// Data + grading + DOM all mixed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let grade;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if (marks&gt;=90) grade='A+';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else if (marks&gt;=80) grade='A';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else grade='F'; // missing cases!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// Direct global mutation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window.students.push({id,name,marks,grade});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// DOM hardcoded — can't reuse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document.getElementById('list').innerHTML +=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'&lt;li&gt;'+name+' - '+grade+'&lt;/li&gt;';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// Duplicated in 3 other functions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alert('Student added: '+grade);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0" y="960120"/>
            <a:ext cx="4343400" cy="397764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4663440" y="100584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 AFTER — Pattern-Based (Clean Architecture)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663440" y="1325880"/>
            <a:ext cx="416052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FACTORY: validated object creation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const student = RecordFactory.student(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id, name, dept, batch, pass, 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SINGLETON: one central store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Store.getInstance().students.push(student);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STRATEGY: swappable grading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const result = activeStrategy(marks);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→ { grade:'A+', gpa:4.0, cls:'badge-a'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OBSERVER: automatic UI refresh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EventBus.emit('dataChanged');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→ ALL subscribed render*() run auto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MVC: controller just coordinates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// View renders itself via subscription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toast('Student added! Grade: '+result.grade);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28600" y="4617720"/>
            <a:ext cx="2103120" cy="38404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274320" y="462686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Cyclomatic Complexity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74320" y="47914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12 →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441448" y="4617720"/>
            <a:ext cx="2103120" cy="38404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2487168" y="462686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Functions Modified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487168" y="47914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 →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654296" y="4617720"/>
            <a:ext cx="2103120" cy="38404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700016" y="462686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Coverage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700016" y="47914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0% → 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867144" y="4617720"/>
            <a:ext cx="2103120" cy="384048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912864" y="462686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Lines (feature add)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912864" y="47914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50 →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57200" y="292608"/>
            <a:ext cx="50292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57200" y="2926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(5 marks)  |  PERFORMANCE COMPARISON (5 marks)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57200" y="4572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Results &amp; Performance Validation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0"/>
          <p:cNvGraphicFramePr/>
          <p:nvPr/>
        </p:nvGraphicFramePr>
        <p:xfrm>
          <a:off x="2286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{06197F40-7B9D-407B-90C4-8211A5EC9DC3}</a:tableStyleId>
              </a:tblPr>
              <a:tblGrid>
                <a:gridCol w="1554475"/>
                <a:gridCol w="1371600"/>
                <a:gridCol w="1645925"/>
                <a:gridCol w="640075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Input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Result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Login – Admin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admin / admin123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Dashboard visible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Login – Student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S001 / 123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Student portal shown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 Student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ID=S007, valid form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Appears in Students + Rankings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Duplicate ID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ID=S001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Error toast shown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 Result (A+)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Marks=95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Grade A+, GPA 4.0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 Result (F)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Marks=30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Grade F, GPA 0.0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Delete Student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S002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Removed from all views + results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Rankings Update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Add result → check rankings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GPA recalculated, order updated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Observer Event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dataChanged emitted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All active pages re-render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CSV Export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Transcript → Export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</a:rPr>
                        <a:t>Valid CSV downloaded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0"/>
          <p:cNvSpPr/>
          <p:nvPr/>
        </p:nvSpPr>
        <p:spPr>
          <a:xfrm>
            <a:off x="5715000" y="1005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⚡ Performance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715000" y="14173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715000" y="1618488"/>
            <a:ext cx="2926080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5715000" y="1618488"/>
            <a:ext cx="109728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715000" y="1819656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Before: 850ms  After: 12ms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715000" y="205740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Student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715000" y="2258568"/>
            <a:ext cx="1101583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715000" y="2258568"/>
            <a:ext cx="109728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715000" y="2459736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Before: 320ms  After: 8ms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715000" y="26974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Rankings Render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715000" y="2898648"/>
            <a:ext cx="1858921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715000" y="2898648"/>
            <a:ext cx="109728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5715000" y="3099816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Before: 540ms  After: 18ms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715000" y="3337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 Filter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715000" y="3538728"/>
            <a:ext cx="963885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715000" y="3538728"/>
            <a:ext cx="109728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5715000" y="3739896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Before: 280ms  After: 5ms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715000" y="39776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Transcript 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715000" y="4178808"/>
            <a:ext cx="1411403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715000" y="4178808"/>
            <a:ext cx="109728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715000" y="4379976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Before: 410ms  After: 14ms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715000" y="4572000"/>
            <a:ext cx="228600" cy="182880"/>
          </a:xfrm>
          <a:prstGeom prst="rect">
            <a:avLst/>
          </a:prstGeom>
          <a:solidFill>
            <a:srgbClr val="EF4444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5989320" y="45720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patterns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406640" y="4572000"/>
            <a:ext cx="228600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680960" y="45720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patterns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457200" y="292608"/>
            <a:ext cx="2286000" cy="292608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2926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SRS OVERVIEW  |  5 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" y="4572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Requirements Specification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28600" y="1005840"/>
            <a:ext cx="2880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28600" y="1005840"/>
            <a:ext cx="2880360" cy="3657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20040" y="107899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C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5FC8"/>
                </a:solidFill>
                <a:latin typeface="Calibri"/>
                <a:ea typeface="Calibri"/>
                <a:cs typeface="Calibri"/>
                <a:sym typeface="Calibri"/>
              </a:rPr>
              <a:t>Functional Requirements (F)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20040" y="14813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93776" y="1444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REQ-1: Student CRUD (Add/View/Delete/Search)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20040" y="19385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93776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REQ-2: Course CRUD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20040" y="23957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93776" y="23591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REQ-3: Result Entry with marks validation 0–100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20040" y="28529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93776" y="28163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REQ-4: Auto grade (A+/A/B/C/D/F) via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20040" y="33101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93776" y="32735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REQ-5: GPA 4.0 scale per student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20040" y="37673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93776" y="3730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REQ-6: Ranked leaderboard filterable by dept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20040" y="42245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93776" y="4187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REQ-7: Individual transcript with CGPA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20040" y="4681728"/>
            <a:ext cx="128016" cy="128016"/>
          </a:xfrm>
          <a:prstGeom prst="rect">
            <a:avLst/>
          </a:prstGeom>
          <a:solidFill>
            <a:srgbClr val="1A5FC8"/>
          </a:solidFill>
          <a:ln cap="flat" cmpd="sng" w="12700">
            <a:solidFill>
              <a:srgbClr val="1A5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93776" y="46451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REQ-8: CSV export of transcript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209544" y="1005840"/>
            <a:ext cx="2880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209544" y="1005840"/>
            <a:ext cx="288036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300984" y="107899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 (NF)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300984" y="14813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3474720" y="1444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NFR-1: All interactions &lt; 100ms (achieved: ~15ms)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300984" y="19385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3474720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NFR-2: Works on Chrome, Firefox, Edge, Safari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300984" y="23957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474720" y="23591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NFR-3: No server needed — client-side SPA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300984" y="28529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474720" y="28163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NFR-4: Singleton ensures no data inconsistency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300984" y="33101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3474720" y="32735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NFR-5: Strategy pattern enables grading extensibility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300984" y="37673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474720" y="3730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NFR-6: Observer decouples UI from business 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300984" y="4224528"/>
            <a:ext cx="128016" cy="12801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3474720" y="4187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NFR-7: Role-based display (admin vs student views)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190488" y="1005840"/>
            <a:ext cx="2880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190488" y="1005840"/>
            <a:ext cx="2880360" cy="365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6281928" y="107899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Constraints &amp; Assumptions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281928" y="14813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455664" y="1444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JavaScript ES6+ required in browser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281928" y="19385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6455664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In-memory data (session-scoped, by design)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281928" y="23957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455664" y="23591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follows Factory-validated schema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281928" y="28529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455664" y="28163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Grading follows NUCES 4.0 GPA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281928" y="33101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455664" y="32735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 can manage; students read-only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281928" y="3767328"/>
            <a:ext cx="128016" cy="12801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455664" y="37307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HTML + CSS + JS file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57200" y="182880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SRMS — Design Pattern Implementation | FAST-NUCES Karachi |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20040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20040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320040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Singleton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320040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DataStore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755648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1755648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755648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755648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Pluggable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3191256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3191256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3191256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Factory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191256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object creation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626864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626864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626864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Observer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626864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 UI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refresh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062472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062472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062472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062472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clean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498080" y="1325880"/>
            <a:ext cx="1298448" cy="1417320"/>
          </a:xfrm>
          <a:prstGeom prst="rect">
            <a:avLst/>
          </a:prstGeom>
          <a:solidFill>
            <a:srgbClr val="1624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7498080" y="141732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7498080" y="1874520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Refactored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498080" y="2103120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CC: 12→3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57200" y="29260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17 domain features implemented (CRUD, GPA, rankings, transcripts, CSV, search, roles)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✅  5 design patterns applied with measurable improvement in maintainability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✅  Response time reduced from ~500ms avg to ~12ms with pattern-based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✅  All 10 test cases pass | Role-based login | Fully client-side (no server needed)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57200" y="44531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Muneeb Ul Haq  |  Advisor: Asst. Prof. Engr. Abdul Rahman  |  FAST-NUCES Karachi  | 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